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aluisamartinezgarza/Documents/Codex/2026-05-27/catalogo-hora-dorada/assets/home-hero-golden-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772400" cy="21945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772400" cy="2194560"/>
          </a:xfrm>
          <a:prstGeom prst="rect">
            <a:avLst/>
          </a:prstGeom>
          <a:solidFill>
            <a:srgbClr val="17120D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7772400" cy="2194560"/>
          </a:xfrm>
          <a:prstGeom prst="rect">
            <a:avLst/>
          </a:prstGeom>
          <a:solidFill>
            <a:srgbClr val="17120D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7876" y="683240"/>
            <a:ext cx="112361" cy="0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824745" y="715025"/>
            <a:ext cx="110202" cy="21921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815474" y="745588"/>
            <a:ext cx="103808" cy="42999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800418" y="773755"/>
            <a:ext cx="93425" cy="62425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780156" y="798444"/>
            <a:ext cx="79452" cy="79452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>
            <a:off x="755467" y="818706"/>
            <a:ext cx="62425" cy="93425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727300" y="833762"/>
            <a:ext cx="42999" cy="103808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696737" y="843033"/>
            <a:ext cx="21921" cy="110202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664952" y="846164"/>
            <a:ext cx="0" cy="112361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14" name="Shape 11"/>
          <p:cNvSpPr/>
          <p:nvPr/>
        </p:nvSpPr>
        <p:spPr>
          <a:xfrm>
            <a:off x="633167" y="843033"/>
            <a:ext cx="-21921" cy="110202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602603" y="833762"/>
            <a:ext cx="-42999" cy="103808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16" name="Shape 13"/>
          <p:cNvSpPr/>
          <p:nvPr/>
        </p:nvSpPr>
        <p:spPr>
          <a:xfrm>
            <a:off x="574436" y="818706"/>
            <a:ext cx="-62425" cy="93425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549747" y="798444"/>
            <a:ext cx="-79452" cy="79452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18" name="Shape 15"/>
          <p:cNvSpPr/>
          <p:nvPr/>
        </p:nvSpPr>
        <p:spPr>
          <a:xfrm>
            <a:off x="529485" y="773755"/>
            <a:ext cx="-93425" cy="62425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514429" y="745588"/>
            <a:ext cx="-103808" cy="42999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20" name="Shape 17"/>
          <p:cNvSpPr/>
          <p:nvPr/>
        </p:nvSpPr>
        <p:spPr>
          <a:xfrm>
            <a:off x="505158" y="715025"/>
            <a:ext cx="-110202" cy="21921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502028" y="683240"/>
            <a:ext cx="-112361" cy="0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22" name="Shape 19"/>
          <p:cNvSpPr/>
          <p:nvPr/>
        </p:nvSpPr>
        <p:spPr>
          <a:xfrm>
            <a:off x="505158" y="651455"/>
            <a:ext cx="-110202" cy="-21921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23" name="Shape 20"/>
          <p:cNvSpPr/>
          <p:nvPr/>
        </p:nvSpPr>
        <p:spPr>
          <a:xfrm>
            <a:off x="514429" y="620891"/>
            <a:ext cx="-103808" cy="-42999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24" name="Shape 21"/>
          <p:cNvSpPr/>
          <p:nvPr/>
        </p:nvSpPr>
        <p:spPr>
          <a:xfrm>
            <a:off x="529485" y="592724"/>
            <a:ext cx="-93425" cy="-62425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25" name="Shape 22"/>
          <p:cNvSpPr/>
          <p:nvPr/>
        </p:nvSpPr>
        <p:spPr>
          <a:xfrm>
            <a:off x="549747" y="568035"/>
            <a:ext cx="-79452" cy="-79452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26" name="Shape 23"/>
          <p:cNvSpPr/>
          <p:nvPr/>
        </p:nvSpPr>
        <p:spPr>
          <a:xfrm>
            <a:off x="574436" y="547773"/>
            <a:ext cx="-62425" cy="-93425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27" name="Shape 24"/>
          <p:cNvSpPr/>
          <p:nvPr/>
        </p:nvSpPr>
        <p:spPr>
          <a:xfrm>
            <a:off x="602603" y="532717"/>
            <a:ext cx="-42999" cy="-103808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28" name="Shape 25"/>
          <p:cNvSpPr/>
          <p:nvPr/>
        </p:nvSpPr>
        <p:spPr>
          <a:xfrm>
            <a:off x="633167" y="523446"/>
            <a:ext cx="-21921" cy="-110202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29" name="Shape 26"/>
          <p:cNvSpPr/>
          <p:nvPr/>
        </p:nvSpPr>
        <p:spPr>
          <a:xfrm>
            <a:off x="664952" y="520316"/>
            <a:ext cx="0" cy="-112361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30" name="Shape 27"/>
          <p:cNvSpPr/>
          <p:nvPr/>
        </p:nvSpPr>
        <p:spPr>
          <a:xfrm>
            <a:off x="696737" y="523446"/>
            <a:ext cx="21921" cy="-110202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31" name="Shape 28"/>
          <p:cNvSpPr/>
          <p:nvPr/>
        </p:nvSpPr>
        <p:spPr>
          <a:xfrm>
            <a:off x="727300" y="532717"/>
            <a:ext cx="42999" cy="-103808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32" name="Shape 29"/>
          <p:cNvSpPr/>
          <p:nvPr/>
        </p:nvSpPr>
        <p:spPr>
          <a:xfrm>
            <a:off x="755467" y="547773"/>
            <a:ext cx="62425" cy="-93425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33" name="Shape 30"/>
          <p:cNvSpPr/>
          <p:nvPr/>
        </p:nvSpPr>
        <p:spPr>
          <a:xfrm>
            <a:off x="780156" y="568035"/>
            <a:ext cx="79452" cy="-79452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34" name="Shape 31"/>
          <p:cNvSpPr/>
          <p:nvPr/>
        </p:nvSpPr>
        <p:spPr>
          <a:xfrm>
            <a:off x="800418" y="592724"/>
            <a:ext cx="93425" cy="-62425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35" name="Shape 32"/>
          <p:cNvSpPr/>
          <p:nvPr/>
        </p:nvSpPr>
        <p:spPr>
          <a:xfrm>
            <a:off x="815474" y="620891"/>
            <a:ext cx="103808" cy="-42999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36" name="Shape 33"/>
          <p:cNvSpPr/>
          <p:nvPr/>
        </p:nvSpPr>
        <p:spPr>
          <a:xfrm>
            <a:off x="824745" y="651455"/>
            <a:ext cx="110202" cy="-21921"/>
          </a:xfrm>
          <a:prstGeom prst="line">
            <a:avLst/>
          </a:prstGeom>
          <a:noFill/>
          <a:ln w="15240">
            <a:solidFill>
              <a:srgbClr val="B8842D"/>
            </a:solidFill>
            <a:prstDash val="solid"/>
            <a:headEnd type="none"/>
            <a:tailEnd type="none"/>
          </a:ln>
        </p:spPr>
      </p:sp>
      <p:sp>
        <p:nvSpPr>
          <p:cNvPr id="37" name="Shape 34"/>
          <p:cNvSpPr/>
          <p:nvPr/>
        </p:nvSpPr>
        <p:spPr>
          <a:xfrm>
            <a:off x="563826" y="582114"/>
            <a:ext cx="202251" cy="202251"/>
          </a:xfrm>
          <a:prstGeom prst="ellipse">
            <a:avLst/>
          </a:prstGeom>
          <a:solidFill>
            <a:srgbClr val="FFFDF8">
              <a:alpha val="0"/>
            </a:srgbClr>
          </a:solidFill>
          <a:ln w="20320">
            <a:solidFill>
              <a:srgbClr val="B8842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86307" y="437449"/>
            <a:ext cx="34527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2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HORA DORADA</a:t>
            </a:r>
            <a:endParaRPr lang="en-US" sz="1472" dirty="0"/>
          </a:p>
        </p:txBody>
      </p:sp>
      <p:sp>
        <p:nvSpPr>
          <p:cNvPr id="39" name="Text 36"/>
          <p:cNvSpPr/>
          <p:nvPr/>
        </p:nvSpPr>
        <p:spPr>
          <a:xfrm>
            <a:off x="1098012" y="741761"/>
            <a:ext cx="257495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7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PROP HOUSE</a:t>
            </a:r>
            <a:endParaRPr lang="en-US" sz="717" dirty="0"/>
          </a:p>
        </p:txBody>
      </p:sp>
      <p:sp>
        <p:nvSpPr>
          <p:cNvPr id="40" name="Text 37"/>
          <p:cNvSpPr/>
          <p:nvPr/>
        </p:nvSpPr>
        <p:spPr>
          <a:xfrm>
            <a:off x="5623560" y="1225296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8C06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SOLICITUD HD-2026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5321808" y="14173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Cotización estimada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02336" y="2606040"/>
            <a:ext cx="6967728" cy="0"/>
          </a:xfrm>
          <a:prstGeom prst="rect">
            <a:avLst/>
          </a:prstGeom>
          <a:noFill/>
          <a:ln w="12700">
            <a:solidFill>
              <a:srgbClr val="DED0B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02336" y="2331720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8842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COTIZACIÓN PARA ANA MARTÍNEZ</a:t>
            </a:r>
            <a:endParaRPr lang="en-US" sz="720" dirty="0"/>
          </a:p>
        </p:txBody>
      </p:sp>
      <p:sp>
        <p:nvSpPr>
          <p:cNvPr id="44" name="Text 41"/>
          <p:cNvSpPr/>
          <p:nvPr/>
        </p:nvSpPr>
        <p:spPr>
          <a:xfrm>
            <a:off x="402336" y="25420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7140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Props seleccionados</a:t>
            </a:r>
            <a:endParaRPr lang="en-US" sz="2800" dirty="0"/>
          </a:p>
        </p:txBody>
      </p:sp>
      <p:sp>
        <p:nvSpPr>
          <p:cNvPr id="45" name="Text 42"/>
          <p:cNvSpPr/>
          <p:nvPr/>
        </p:nvSpPr>
        <p:spPr>
          <a:xfrm>
            <a:off x="420624" y="29443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Resumen para revisión por WhatsApp</a:t>
            </a:r>
            <a:endParaRPr lang="en-US" sz="720" dirty="0"/>
          </a:p>
        </p:txBody>
      </p:sp>
      <p:sp>
        <p:nvSpPr>
          <p:cNvPr id="46" name="Text 43"/>
          <p:cNvSpPr/>
          <p:nvPr/>
        </p:nvSpPr>
        <p:spPr>
          <a:xfrm>
            <a:off x="4956048" y="2514600"/>
            <a:ext cx="2423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Esta cotización no aparta inventario hasta confirmación de Hora Dorada.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402336" y="3429000"/>
            <a:ext cx="1741932" cy="530352"/>
          </a:xfrm>
          <a:prstGeom prst="rect">
            <a:avLst/>
          </a:prstGeom>
          <a:solidFill>
            <a:srgbClr val="FBF6ED"/>
          </a:solidFill>
          <a:ln w="10160">
            <a:solidFill>
              <a:srgbClr val="DED0B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12064" y="3538728"/>
            <a:ext cx="15224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CLIENTE</a:t>
            </a:r>
            <a:endParaRPr lang="en-US" sz="620" dirty="0"/>
          </a:p>
        </p:txBody>
      </p:sp>
      <p:sp>
        <p:nvSpPr>
          <p:cNvPr id="49" name="Text 46"/>
          <p:cNvSpPr/>
          <p:nvPr/>
        </p:nvSpPr>
        <p:spPr>
          <a:xfrm>
            <a:off x="512064" y="3721608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40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Ana Martínez</a:t>
            </a:r>
            <a:endParaRPr lang="en-US" sz="920" dirty="0"/>
          </a:p>
        </p:txBody>
      </p:sp>
      <p:sp>
        <p:nvSpPr>
          <p:cNvPr id="50" name="Shape 47"/>
          <p:cNvSpPr/>
          <p:nvPr/>
        </p:nvSpPr>
        <p:spPr>
          <a:xfrm>
            <a:off x="2144268" y="3429000"/>
            <a:ext cx="1741932" cy="530352"/>
          </a:xfrm>
          <a:prstGeom prst="rect">
            <a:avLst/>
          </a:prstGeom>
          <a:solidFill>
            <a:srgbClr val="FBF6ED"/>
          </a:solidFill>
          <a:ln w="10160">
            <a:solidFill>
              <a:srgbClr val="DED0BD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253996" y="3538728"/>
            <a:ext cx="15224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SALIDA</a:t>
            </a:r>
            <a:endParaRPr lang="en-US" sz="620" dirty="0"/>
          </a:p>
        </p:txBody>
      </p:sp>
      <p:sp>
        <p:nvSpPr>
          <p:cNvPr id="52" name="Text 49"/>
          <p:cNvSpPr/>
          <p:nvPr/>
        </p:nvSpPr>
        <p:spPr>
          <a:xfrm>
            <a:off x="2253996" y="3721608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40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 Jun 2026</a:t>
            </a:r>
            <a:endParaRPr lang="en-US" sz="920" dirty="0"/>
          </a:p>
        </p:txBody>
      </p:sp>
      <p:sp>
        <p:nvSpPr>
          <p:cNvPr id="53" name="Shape 50"/>
          <p:cNvSpPr/>
          <p:nvPr/>
        </p:nvSpPr>
        <p:spPr>
          <a:xfrm>
            <a:off x="3886200" y="3429000"/>
            <a:ext cx="1741932" cy="530352"/>
          </a:xfrm>
          <a:prstGeom prst="rect">
            <a:avLst/>
          </a:prstGeom>
          <a:solidFill>
            <a:srgbClr val="FBF6ED"/>
          </a:solidFill>
          <a:ln w="10160">
            <a:solidFill>
              <a:srgbClr val="DED0BD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995928" y="3538728"/>
            <a:ext cx="15224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REGRESO</a:t>
            </a:r>
            <a:endParaRPr lang="en-US" sz="620" dirty="0"/>
          </a:p>
        </p:txBody>
      </p:sp>
      <p:sp>
        <p:nvSpPr>
          <p:cNvPr id="55" name="Text 52"/>
          <p:cNvSpPr/>
          <p:nvPr/>
        </p:nvSpPr>
        <p:spPr>
          <a:xfrm>
            <a:off x="3995928" y="3721608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40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08 Jun 2026</a:t>
            </a:r>
            <a:endParaRPr lang="en-US" sz="920" dirty="0"/>
          </a:p>
        </p:txBody>
      </p:sp>
      <p:sp>
        <p:nvSpPr>
          <p:cNvPr id="56" name="Shape 53"/>
          <p:cNvSpPr/>
          <p:nvPr/>
        </p:nvSpPr>
        <p:spPr>
          <a:xfrm>
            <a:off x="5628132" y="3429000"/>
            <a:ext cx="1741932" cy="530352"/>
          </a:xfrm>
          <a:prstGeom prst="rect">
            <a:avLst/>
          </a:prstGeom>
          <a:solidFill>
            <a:srgbClr val="FBF6ED"/>
          </a:solidFill>
          <a:ln w="10160">
            <a:solidFill>
              <a:srgbClr val="DED0BD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737860" y="3538728"/>
            <a:ext cx="15224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DÍAS COBRADOS</a:t>
            </a:r>
            <a:endParaRPr lang="en-US" sz="620" dirty="0"/>
          </a:p>
        </p:txBody>
      </p:sp>
      <p:sp>
        <p:nvSpPr>
          <p:cNvPr id="58" name="Text 55"/>
          <p:cNvSpPr/>
          <p:nvPr/>
        </p:nvSpPr>
        <p:spPr>
          <a:xfrm>
            <a:off x="5737860" y="3721608"/>
            <a:ext cx="15224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7140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 día</a:t>
            </a:r>
            <a:endParaRPr lang="en-US" sz="920" dirty="0"/>
          </a:p>
        </p:txBody>
      </p:sp>
      <p:sp>
        <p:nvSpPr>
          <p:cNvPr id="59" name="Text 56"/>
          <p:cNvSpPr/>
          <p:nvPr/>
        </p:nvSpPr>
        <p:spPr>
          <a:xfrm>
            <a:off x="502920" y="431596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PROP</a:t>
            </a:r>
            <a:endParaRPr lang="en-US" sz="660" dirty="0"/>
          </a:p>
        </p:txBody>
      </p:sp>
      <p:sp>
        <p:nvSpPr>
          <p:cNvPr id="60" name="Text 57"/>
          <p:cNvSpPr/>
          <p:nvPr/>
        </p:nvSpPr>
        <p:spPr>
          <a:xfrm>
            <a:off x="3291840" y="4315968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CÓDIGO</a:t>
            </a:r>
            <a:endParaRPr lang="en-US" sz="660" dirty="0"/>
          </a:p>
        </p:txBody>
      </p:sp>
      <p:sp>
        <p:nvSpPr>
          <p:cNvPr id="61" name="Text 58"/>
          <p:cNvSpPr/>
          <p:nvPr/>
        </p:nvSpPr>
        <p:spPr>
          <a:xfrm>
            <a:off x="4279392" y="43159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CANT.</a:t>
            </a:r>
            <a:endParaRPr lang="en-US" sz="660" dirty="0"/>
          </a:p>
        </p:txBody>
      </p:sp>
      <p:sp>
        <p:nvSpPr>
          <p:cNvPr id="62" name="Text 59"/>
          <p:cNvSpPr/>
          <p:nvPr/>
        </p:nvSpPr>
        <p:spPr>
          <a:xfrm>
            <a:off x="5193792" y="431596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RENTA</a:t>
            </a:r>
            <a:endParaRPr lang="en-US" sz="660" dirty="0"/>
          </a:p>
        </p:txBody>
      </p:sp>
      <p:sp>
        <p:nvSpPr>
          <p:cNvPr id="63" name="Text 60"/>
          <p:cNvSpPr/>
          <p:nvPr/>
        </p:nvSpPr>
        <p:spPr>
          <a:xfrm>
            <a:off x="6153912" y="431596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b="1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IMPORTE</a:t>
            </a:r>
            <a:endParaRPr lang="en-US" sz="660" dirty="0"/>
          </a:p>
        </p:txBody>
      </p:sp>
      <p:sp>
        <p:nvSpPr>
          <p:cNvPr id="64" name="Shape 61"/>
          <p:cNvSpPr/>
          <p:nvPr/>
        </p:nvSpPr>
        <p:spPr>
          <a:xfrm>
            <a:off x="502920" y="4553712"/>
            <a:ext cx="6675120" cy="0"/>
          </a:xfrm>
          <a:prstGeom prst="line">
            <a:avLst/>
          </a:prstGeom>
          <a:noFill/>
          <a:ln w="10160">
            <a:solidFill>
              <a:srgbClr val="DED0BD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502920" y="5157216"/>
            <a:ext cx="6675120" cy="0"/>
          </a:xfrm>
          <a:prstGeom prst="line">
            <a:avLst/>
          </a:prstGeom>
          <a:noFill/>
          <a:ln w="7620">
            <a:solidFill>
              <a:srgbClr val="EADFCE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02920" y="471830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140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Sillón cuero vintage</a:t>
            </a:r>
            <a:endParaRPr lang="en-US" sz="880" dirty="0"/>
          </a:p>
        </p:txBody>
      </p:sp>
      <p:sp>
        <p:nvSpPr>
          <p:cNvPr id="67" name="Text 64"/>
          <p:cNvSpPr/>
          <p:nvPr/>
        </p:nvSpPr>
        <p:spPr>
          <a:xfrm>
            <a:off x="502920" y="490118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Decoración</a:t>
            </a:r>
            <a:endParaRPr lang="en-US" sz="740" dirty="0"/>
          </a:p>
        </p:txBody>
      </p:sp>
      <p:sp>
        <p:nvSpPr>
          <p:cNvPr id="68" name="Text 65"/>
          <p:cNvSpPr/>
          <p:nvPr/>
        </p:nvSpPr>
        <p:spPr>
          <a:xfrm>
            <a:off x="3291840" y="476402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MO-014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4279392" y="47640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5193792" y="476402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$300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6153912" y="476402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7140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$300</a:t>
            </a:r>
            <a:endParaRPr lang="en-US" sz="820" dirty="0"/>
          </a:p>
        </p:txBody>
      </p:sp>
      <p:sp>
        <p:nvSpPr>
          <p:cNvPr id="72" name="Shape 69"/>
          <p:cNvSpPr/>
          <p:nvPr/>
        </p:nvSpPr>
        <p:spPr>
          <a:xfrm>
            <a:off x="502920" y="5742432"/>
            <a:ext cx="6675120" cy="0"/>
          </a:xfrm>
          <a:prstGeom prst="line">
            <a:avLst/>
          </a:prstGeom>
          <a:noFill/>
          <a:ln w="7620">
            <a:solidFill>
              <a:srgbClr val="EADFCE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502920" y="5303520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140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Canasta grande natural</a:t>
            </a:r>
            <a:endParaRPr lang="en-US" sz="880" dirty="0"/>
          </a:p>
        </p:txBody>
      </p:sp>
      <p:sp>
        <p:nvSpPr>
          <p:cNvPr id="74" name="Text 71"/>
          <p:cNvSpPr/>
          <p:nvPr/>
        </p:nvSpPr>
        <p:spPr>
          <a:xfrm>
            <a:off x="502920" y="5486400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Arte / textura</a:t>
            </a:r>
            <a:endParaRPr lang="en-US" sz="740" dirty="0"/>
          </a:p>
        </p:txBody>
      </p:sp>
      <p:sp>
        <p:nvSpPr>
          <p:cNvPr id="75" name="Text 72"/>
          <p:cNvSpPr/>
          <p:nvPr/>
        </p:nvSpPr>
        <p:spPr>
          <a:xfrm>
            <a:off x="3291840" y="5349240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DE-002</a:t>
            </a:r>
            <a:endParaRPr lang="en-US" sz="800" dirty="0"/>
          </a:p>
        </p:txBody>
      </p:sp>
      <p:sp>
        <p:nvSpPr>
          <p:cNvPr id="76" name="Text 73"/>
          <p:cNvSpPr/>
          <p:nvPr/>
        </p:nvSpPr>
        <p:spPr>
          <a:xfrm>
            <a:off x="4279392" y="53492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5193792" y="53492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$50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6153912" y="53492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7140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$50</a:t>
            </a:r>
            <a:endParaRPr lang="en-US" sz="820" dirty="0"/>
          </a:p>
        </p:txBody>
      </p:sp>
      <p:sp>
        <p:nvSpPr>
          <p:cNvPr id="79" name="Shape 76"/>
          <p:cNvSpPr/>
          <p:nvPr/>
        </p:nvSpPr>
        <p:spPr>
          <a:xfrm>
            <a:off x="502920" y="6327648"/>
            <a:ext cx="6675120" cy="0"/>
          </a:xfrm>
          <a:prstGeom prst="line">
            <a:avLst/>
          </a:prstGeom>
          <a:noFill/>
          <a:ln w="7620">
            <a:solidFill>
              <a:srgbClr val="EADFCE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502920" y="588873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140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Maceta color blanco</a:t>
            </a:r>
            <a:endParaRPr lang="en-US" sz="880" dirty="0"/>
          </a:p>
        </p:txBody>
      </p:sp>
      <p:sp>
        <p:nvSpPr>
          <p:cNvPr id="81" name="Text 78"/>
          <p:cNvSpPr/>
          <p:nvPr/>
        </p:nvSpPr>
        <p:spPr>
          <a:xfrm>
            <a:off x="502920" y="607161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Accesorio</a:t>
            </a:r>
            <a:endParaRPr lang="en-US" sz="740" dirty="0"/>
          </a:p>
        </p:txBody>
      </p:sp>
      <p:sp>
        <p:nvSpPr>
          <p:cNvPr id="82" name="Text 79"/>
          <p:cNvSpPr/>
          <p:nvPr/>
        </p:nvSpPr>
        <p:spPr>
          <a:xfrm>
            <a:off x="3291840" y="593445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DE-009</a:t>
            </a:r>
            <a:endParaRPr lang="en-US" sz="800" dirty="0"/>
          </a:p>
        </p:txBody>
      </p:sp>
      <p:sp>
        <p:nvSpPr>
          <p:cNvPr id="83" name="Text 80"/>
          <p:cNvSpPr/>
          <p:nvPr/>
        </p:nvSpPr>
        <p:spPr>
          <a:xfrm>
            <a:off x="4279392" y="59344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800" dirty="0"/>
          </a:p>
        </p:txBody>
      </p:sp>
      <p:sp>
        <p:nvSpPr>
          <p:cNvPr id="84" name="Text 81"/>
          <p:cNvSpPr/>
          <p:nvPr/>
        </p:nvSpPr>
        <p:spPr>
          <a:xfrm>
            <a:off x="5193792" y="593445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$70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6153912" y="593445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7140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$70</a:t>
            </a:r>
            <a:endParaRPr lang="en-US" sz="820" dirty="0"/>
          </a:p>
        </p:txBody>
      </p:sp>
      <p:sp>
        <p:nvSpPr>
          <p:cNvPr id="86" name="Text 83"/>
          <p:cNvSpPr/>
          <p:nvPr/>
        </p:nvSpPr>
        <p:spPr>
          <a:xfrm>
            <a:off x="4626864" y="66294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Subtotal</a:t>
            </a:r>
            <a:endParaRPr lang="en-US" sz="800" dirty="0"/>
          </a:p>
        </p:txBody>
      </p:sp>
      <p:sp>
        <p:nvSpPr>
          <p:cNvPr id="87" name="Text 84"/>
          <p:cNvSpPr/>
          <p:nvPr/>
        </p:nvSpPr>
        <p:spPr>
          <a:xfrm>
            <a:off x="5998464" y="662940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7140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$420 MXN</a:t>
            </a:r>
            <a:endParaRPr lang="en-US" sz="800" dirty="0"/>
          </a:p>
        </p:txBody>
      </p:sp>
      <p:sp>
        <p:nvSpPr>
          <p:cNvPr id="88" name="Text 85"/>
          <p:cNvSpPr/>
          <p:nvPr/>
        </p:nvSpPr>
        <p:spPr>
          <a:xfrm>
            <a:off x="4626864" y="6858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IVA 16%</a:t>
            </a:r>
            <a:endParaRPr lang="en-US" sz="800" dirty="0"/>
          </a:p>
        </p:txBody>
      </p:sp>
      <p:sp>
        <p:nvSpPr>
          <p:cNvPr id="89" name="Text 86"/>
          <p:cNvSpPr/>
          <p:nvPr/>
        </p:nvSpPr>
        <p:spPr>
          <a:xfrm>
            <a:off x="5998464" y="685800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7140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$67 MXN</a:t>
            </a:r>
            <a:endParaRPr lang="en-US" sz="800" dirty="0"/>
          </a:p>
        </p:txBody>
      </p:sp>
      <p:sp>
        <p:nvSpPr>
          <p:cNvPr id="90" name="Text 87"/>
          <p:cNvSpPr/>
          <p:nvPr/>
        </p:nvSpPr>
        <p:spPr>
          <a:xfrm>
            <a:off x="4626864" y="70866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Anticipo sugerido</a:t>
            </a:r>
            <a:endParaRPr lang="en-US" sz="800" dirty="0"/>
          </a:p>
        </p:txBody>
      </p:sp>
      <p:sp>
        <p:nvSpPr>
          <p:cNvPr id="91" name="Text 88"/>
          <p:cNvSpPr/>
          <p:nvPr/>
        </p:nvSpPr>
        <p:spPr>
          <a:xfrm>
            <a:off x="5998464" y="708660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7140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$97 MXN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4626864" y="7360920"/>
            <a:ext cx="2578608" cy="0"/>
          </a:xfrm>
          <a:prstGeom prst="line">
            <a:avLst/>
          </a:prstGeom>
          <a:noFill/>
          <a:ln w="10160">
            <a:solidFill>
              <a:srgbClr val="DED0BD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4626864" y="74797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140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Total estimado</a:t>
            </a:r>
            <a:endParaRPr lang="en-US" sz="1200" dirty="0"/>
          </a:p>
        </p:txBody>
      </p:sp>
      <p:sp>
        <p:nvSpPr>
          <p:cNvPr id="94" name="Text 91"/>
          <p:cNvSpPr/>
          <p:nvPr/>
        </p:nvSpPr>
        <p:spPr>
          <a:xfrm>
            <a:off x="5952744" y="746150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140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$487 MXN</a:t>
            </a:r>
            <a:endParaRPr lang="en-US" sz="1200" dirty="0"/>
          </a:p>
        </p:txBody>
      </p:sp>
      <p:sp>
        <p:nvSpPr>
          <p:cNvPr id="95" name="Shape 92"/>
          <p:cNvSpPr/>
          <p:nvPr/>
        </p:nvSpPr>
        <p:spPr>
          <a:xfrm>
            <a:off x="530352" y="8339328"/>
            <a:ext cx="6693408" cy="658368"/>
          </a:xfrm>
          <a:prstGeom prst="rect">
            <a:avLst/>
          </a:prstGeom>
          <a:solidFill>
            <a:srgbClr val="F3E7D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530352" y="8339328"/>
            <a:ext cx="0" cy="658368"/>
          </a:xfrm>
          <a:prstGeom prst="line">
            <a:avLst/>
          </a:prstGeom>
          <a:noFill/>
          <a:ln w="25400">
            <a:solidFill>
              <a:srgbClr val="B8842D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694944" y="851306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El día de salida y el día de regreso no se cobran por práctica de la industria. Cotización sujeta a disponibilidad final y confirmación por WhatsApp.</a:t>
            </a:r>
            <a:endParaRPr lang="en-US" sz="800" dirty="0"/>
          </a:p>
        </p:txBody>
      </p:sp>
      <p:sp>
        <p:nvSpPr>
          <p:cNvPr id="98" name="Text 95"/>
          <p:cNvSpPr/>
          <p:nvPr/>
        </p:nvSpPr>
        <p:spPr>
          <a:xfrm>
            <a:off x="402336" y="9454896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81 1716 0541 · @horadoradaprophouse</a:t>
            </a:r>
            <a:endParaRPr lang="en-US" sz="720" dirty="0"/>
          </a:p>
        </p:txBody>
      </p:sp>
      <p:sp>
        <p:nvSpPr>
          <p:cNvPr id="99" name="Text 96"/>
          <p:cNvSpPr/>
          <p:nvPr/>
        </p:nvSpPr>
        <p:spPr>
          <a:xfrm>
            <a:off x="5084064" y="945489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71685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Hora Dorada Prop House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rmorant Garamo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Hora Dorada Prop House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Hora Dorada Cotización Híbrido Editorial Claro</dc:title>
  <dc:subject>Cotización híbrido editorial claro</dc:subject>
  <dc:creator>Hora Dorada Prop House</dc:creator>
  <cp:lastModifiedBy>Hora Dorada Prop House</cp:lastModifiedBy>
  <cp:revision>1</cp:revision>
  <dcterms:created xsi:type="dcterms:W3CDTF">2026-06-03T19:29:01Z</dcterms:created>
  <dcterms:modified xsi:type="dcterms:W3CDTF">2026-06-03T19:29:01Z</dcterms:modified>
</cp:coreProperties>
</file>